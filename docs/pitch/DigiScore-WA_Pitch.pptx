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COUVERTURE — DigiScore-WA, équipe Alpha, thématique 02 scoring microcrédit, CIF DigiCoop-WA+ à Lomé. Pitch 8 minutes chronométré + 2 minutes de questions, démo live obligatoire. Ne pas dépasser 7 min 30. Phrase d'ouverture : « Les SFD évaluent encore le risque à la main, 3 h par dossier, alors que l'historique du membre existe déjà. Nous en faisons un score /100 et un plafond, sans jamais remplacer la décision humaine.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SOMMAIRE — Sept temps : problème, solution, architecture, impact, équipe, suite, mot de fin. Démo : MEM-001 bon payeur, MEM-004 thin-file KO, MEM-009 voie exceptionnelle CIC, MEM-010 compte gelé. Pitch 8 min chronométré + 2 min de questions, démo live obligatoire.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PROBLÈME — 3 h pour instruire un dossier, ~8 % d'impayés, tout demandeur doit ouvrir un compte membre, l'historique institutionnel existe mais n'est pas exploité, BIC/fiscal et cautions restent très papier. Problématique : objectiver l'éligibilité et le plafond depuis le comportement du membre, sans remplacer la décision humaine. Contexte : institutions membres de la CIF, FUCEC-Togo comme échantillon. Cycle observé en 9 étapes, prototype déployable en 72 h sur Android/Windows, données synthétiques.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— Décrire, pas détailler : DigiScore-WA lit le dossier du membre (historique, preuves externes, collecte, BIC/fiscal, cautions), en tire un score /100 sur 6 critères et un plafond recommandé avec un message clair, applique des garde-fous bloquants, puis laisse la décision à l'Agent, au Chef d'agence et au CIC avec trace et override. Gains : agent plus rapide, chef avec des dossiers comparables, CIC outillé pour la voie exceptionnelle, direction avec un portefeuille lisible. Les formules et le détail du score viendront en Q&amp;R. DÉMO LIVE (2:00–5:00) : Kodjo → score 83,7, plafond 870 000, UPSELL ; Aisha thin-file → RCSD 0,41 KNOCKOUT_RCSD ; Isaac 10 M → VOIE_EXCEPTIONNELLE CIC ; compte gelé → aucune demande. Un membre manipule, un autre commente, capture de secours prête.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BDD (zoom 30 s, critère faisabilité) — Sidecar ADD-only : on lit le SI via API/passerelle et mapping, on écrit uniquement dans les tables digiscore_* (CREATE/INSERT), jamais d'ALTER ni de greffe transactionnelle. 40+ tables en 5 blocs : référentiels, membre &amp; agence, demande &amp; collecte A–E, score &amp; décision, ailleurs &amp; pilotage PAR. Deux cahiers séparés (agence vs autres IF) pour ne pas fausser le solde. Les colonnes dates (disbursed_on, due_on, observed_on, as_of, period_month) rendent le PAR30 constructible et les features point-in-time. Environ 120k profils synthétiques + 12 profils golden pour la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(critère 15 %) — Cible : 3 h → 45 min par dossier, 8 % → 5 % d'impayés (vision), 100 % de décisions tracées pour l'audit BCEAO, une seule grille pour toutes les agences. Une estimation assumée suffit, à confirmer en pilote et mesurer via score_result, decision, audit_log. Message clé : objectiver sans remplacer, et chaque override devient une donnée d'amélioration.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ÉQUIPE (critère 5 %) — Cinq profils : Komla Adekoudjo (chef d'équipe, finance/banque), Moïse Ayola (base de données), Ferdine Koudjega (fonctionnel/UI), Josué Amah-Tchoutchou (data scientist), Arielle Kephira Kouassi (fullstack/designer). Faire parler plusieurs membres et assumer les limites du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SUITE (7:00–7:30) — Maintenant : prototype M1–M5 + ML shadow. Pilote FUCEC : extraits réels, adapter réel, recalibrage. Ensuite : M6/M7 PAR &amp; recouvrement, vrai label PAR30 post-décaissement pour un ML calibré, mobile money. Ce qu'on ne vend pas : IA sans données réelles, score seul, remplacement du comité.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 DE FIN — Merci. Six points à retenir : score /100, plafond type télécom, 3 niveaux humains, sidecar ADD-only, ML shadow, données réelles pour la suite. Phrase de sortie : « Le ML éclaire, l'humain décide : objectiver sans remplacer. » Ouvrir les questions sur la démo. Trois questions difficiles à préparer (guide CIF) : (1) « Le ML décide-t-il ? » → non, shadow consultatif, jamais eligible/zone/KO ; il faudra des historiques FUCEC réels pour le calibrer. (2) « Et sans connexion, sur un Android d'entrée de gamme ? » → PWA mode dégradé, démo hors ligne, données pré-chargées, sidecar ADD-only. (3) « Que se passe-t-il si le score est contesté ? » → chaque point est traçable dans criteres[]/explication[], l'humain peut override avec motif, tout est historisé (audit_log, score_result_history).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64008" cy="6858000"/>
          </a:xfrm>
          <a:prstGeom prst="rect">
            <a:avLst/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64008" cy="6858000"/>
          </a:xfrm>
          <a:prstGeom prst="rect">
            <a:avLst/>
          </a:prstGeom>
          <a:solidFill>
            <a:srgbClr val="E0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F2C010"/>
                </a:solidFill>
                <a:latin typeface="Poppins"/>
              </a:rPr>
              <a:t>CIF DIGICOOP-WA+ · THÉMATIQUE 02 — SCORING MICROCRÉDIT · LOMÉ, SEPTEMBRE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10789920" cy="9601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Poppins"/>
              </a:rPr>
              <a:t>DigiScore-WA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1051560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900" b="1">
                <a:solidFill>
                  <a:srgbClr val="E7F4EA"/>
                </a:solidFill>
                <a:latin typeface="Poppins"/>
              </a:rPr>
              <a:t>Le copilote d'éligibilité et de plafond de crédit des SFD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Poppins"/>
              </a:rPr>
              <a:t>Score /100 · plafond type crédit télécom · BIC/fiscal · décision humaine Agent → Chef → CIC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2560320" cy="1325880"/>
          </a:xfrm>
          <a:prstGeom prst="roundRect">
            <a:avLst>
              <a:gd name="adj" fmla="val 8000"/>
            </a:avLst>
          </a:prstGeom>
          <a:solidFill>
            <a:srgbClr val="0F4022"/>
          </a:solidFill>
          <a:ln w="15240">
            <a:solidFill>
              <a:srgbClr val="6FD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99232"/>
            <a:ext cx="256032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2200" b="1">
                <a:solidFill>
                  <a:srgbClr val="6FD48F"/>
                </a:solidFill>
                <a:latin typeface="Poppins"/>
              </a:rPr>
              <a:t>/100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93008"/>
            <a:ext cx="256032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Score explicable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25603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00" b="0">
                <a:solidFill>
                  <a:srgbClr val="E7F4EA"/>
                </a:solidFill>
                <a:latin typeface="Poppins"/>
              </a:rPr>
              <a:t>6 critères pondérés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880360"/>
            <a:ext cx="2560320" cy="1325880"/>
          </a:xfrm>
          <a:prstGeom prst="roundRect">
            <a:avLst>
              <a:gd name="adj" fmla="val 8000"/>
            </a:avLst>
          </a:prstGeom>
          <a:solidFill>
            <a:srgbClr val="0F4022"/>
          </a:solidFill>
          <a:ln w="15240">
            <a:solidFill>
              <a:srgbClr val="F2C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999232"/>
            <a:ext cx="256032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2200" b="1">
                <a:solidFill>
                  <a:srgbClr val="F2C010"/>
                </a:solidFill>
                <a:latin typeface="Poppin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493008"/>
            <a:ext cx="256032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Zones &amp; KO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794760"/>
            <a:ext cx="25603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00" b="0">
                <a:solidFill>
                  <a:srgbClr val="E7F4EA"/>
                </a:solidFill>
                <a:latin typeface="Poppins"/>
              </a:rPr>
              <a:t>0–40 · 41–70 · 71–100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2560320" cy="1325880"/>
          </a:xfrm>
          <a:prstGeom prst="roundRect">
            <a:avLst>
              <a:gd name="adj" fmla="val 8000"/>
            </a:avLst>
          </a:prstGeom>
          <a:solidFill>
            <a:srgbClr val="0F4022"/>
          </a:solidFill>
          <a:ln w="15240">
            <a:solidFill>
              <a:srgbClr val="C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999232"/>
            <a:ext cx="256032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2200" b="1">
                <a:solidFill>
                  <a:srgbClr val="C08A00"/>
                </a:solidFill>
                <a:latin typeface="Poppi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493008"/>
            <a:ext cx="256032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Rôles humains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94760"/>
            <a:ext cx="25603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00" b="0">
                <a:solidFill>
                  <a:srgbClr val="E7F4EA"/>
                </a:solidFill>
                <a:latin typeface="Poppins"/>
              </a:rPr>
              <a:t>Agent → Chef → CIC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880360"/>
            <a:ext cx="2560320" cy="1325880"/>
          </a:xfrm>
          <a:prstGeom prst="roundRect">
            <a:avLst>
              <a:gd name="adj" fmla="val 8000"/>
            </a:avLst>
          </a:prstGeom>
          <a:solidFill>
            <a:srgbClr val="0F4022"/>
          </a:solidFill>
          <a:ln w="15240">
            <a:solidFill>
              <a:srgbClr val="E02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999232"/>
            <a:ext cx="256032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2200" b="1">
                <a:solidFill>
                  <a:srgbClr val="E02030"/>
                </a:solidFill>
                <a:latin typeface="Poppins"/>
              </a:rPr>
              <a:t>&lt;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493008"/>
            <a:ext cx="256032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RCSD knockout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794760"/>
            <a:ext cx="25603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00" b="0">
                <a:solidFill>
                  <a:srgbClr val="E7F4EA"/>
                </a:solidFill>
                <a:latin typeface="Poppins"/>
              </a:rPr>
              <a:t>≥ 1,5 confort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17720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4709160"/>
            <a:ext cx="777240" cy="7772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108960" y="4617720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uc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4709160"/>
            <a:ext cx="777240" cy="77724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486400" y="4617720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869" y="4709160"/>
            <a:ext cx="540181" cy="777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63840" y="4892040"/>
            <a:ext cx="356616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1050" b="1">
                <a:solidFill>
                  <a:srgbClr val="E7F4EA"/>
                </a:solidFill>
                <a:latin typeface="Poppins"/>
              </a:rPr>
              <a:t>FUCEC-Togo = échantillon d'existant</a:t>
            </a:r>
          </a:p>
          <a:p>
            <a:pPr algn="r"/>
            <a:r>
              <a:rPr sz="1050" b="1">
                <a:solidFill>
                  <a:srgbClr val="E7F4EA"/>
                </a:solidFill>
                <a:latin typeface="Poppins"/>
              </a:rPr>
              <a:t>Cible : institutions membres de la CIF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06440"/>
            <a:ext cx="106984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Poppins"/>
              </a:rPr>
              <a:t>Pitch 8 min + 2 min Q&amp;R · démo live obligatoire · données 100 % synthétiques · sidecar ADD-only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4450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2085"/>
            <a:ext cx="12191695" cy="22860"/>
          </a:xfrm>
          <a:prstGeom prst="rect">
            <a:avLst/>
          </a:prstGeom>
          <a:solidFill>
            <a:srgbClr val="E0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"/>
            <a:ext cx="137160" cy="292608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"/>
            <a:ext cx="877824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F2C010"/>
                </a:solidFill>
                <a:latin typeface="Poppins"/>
              </a:rPr>
              <a:t>FEUILLE DE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"/>
            <a:ext cx="9509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</a:rPr>
              <a:t>Notre pitch en 7 temps — 8 minutes chrono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78440" y="182880"/>
            <a:ext cx="153619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376" y="285292"/>
            <a:ext cx="526694" cy="526694"/>
          </a:xfrm>
          <a:prstGeom prst="rect">
            <a:avLst/>
          </a:prstGeom>
        </p:spPr>
      </p:pic>
      <p:pic>
        <p:nvPicPr>
          <p:cNvPr id="11" name="Picture 10" descr="fuc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510" y="285292"/>
            <a:ext cx="526694" cy="526694"/>
          </a:xfrm>
          <a:prstGeom prst="rect">
            <a:avLst/>
          </a:prstGeom>
        </p:spPr>
      </p:pic>
      <p:pic>
        <p:nvPicPr>
          <p:cNvPr id="12" name="Picture 11" descr="t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1644" y="285292"/>
            <a:ext cx="366052" cy="5266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243584"/>
            <a:ext cx="1124712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0">
                <a:solidFill>
                  <a:srgbClr val="5F7A6B"/>
                </a:solidFill>
                <a:latin typeface="Poppins"/>
              </a:rPr>
              <a:t>Minutage conseillé par le guide CIF : problème 1 min · solution + démo 4 min · impact 1 min 30 · équipe/suite 1 min.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74519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F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874519"/>
            <a:ext cx="2697480" cy="109728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2167127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185415"/>
            <a:ext cx="411480" cy="32918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48839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F7A33"/>
                </a:solidFill>
                <a:latin typeface="Poppins"/>
              </a:rPr>
              <a:t>Problème et contexte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624327"/>
            <a:ext cx="1828800" cy="7315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73A2A"/>
                </a:solidFill>
                <a:latin typeface="Poppins"/>
              </a:rPr>
              <a:t>3 h par dossier · 8 % d'impayés · tout papier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55847"/>
            <a:ext cx="23774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50" b="1">
                <a:solidFill>
                  <a:srgbClr val="1F7A33"/>
                </a:solidFill>
                <a:latin typeface="Poppins"/>
              </a:rPr>
              <a:t>0:00 – 1:00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1874519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9272" y="1874519"/>
            <a:ext cx="2697480" cy="10972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20440" y="2167127"/>
            <a:ext cx="411480" cy="411480"/>
          </a:xfrm>
          <a:prstGeom prst="roundRect">
            <a:avLst>
              <a:gd name="adj" fmla="val 8000"/>
            </a:avLst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185415"/>
            <a:ext cx="411480" cy="32918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0792" y="2148839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F7A33"/>
                </a:solidFill>
                <a:latin typeface="Poppins"/>
              </a:rPr>
              <a:t>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2" y="2624327"/>
            <a:ext cx="1828800" cy="7315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73A2A"/>
                </a:solidFill>
                <a:latin typeface="Poppins"/>
              </a:rPr>
              <a:t>Score /100 · plafond · Agent → Chef → CIC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355847"/>
            <a:ext cx="23774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50" b="1">
                <a:solidFill>
                  <a:srgbClr val="2E9E50"/>
                </a:solidFill>
                <a:latin typeface="Poppins"/>
              </a:rPr>
              <a:t>1:00 – 5:00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1874519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66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1344" y="1874519"/>
            <a:ext cx="2697480" cy="109728"/>
          </a:xfrm>
          <a:prstGeom prst="rect">
            <a:avLst/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82512" y="2167127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2185415"/>
            <a:ext cx="411480" cy="32918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2148839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F7A33"/>
                </a:solidFill>
                <a:latin typeface="Poppins"/>
              </a:rPr>
              <a:t>Architecture BDD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2624327"/>
            <a:ext cx="1828800" cy="7315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73A2A"/>
                </a:solidFill>
                <a:latin typeface="Poppins"/>
              </a:rPr>
              <a:t>Sidecar ADD-only · 2 cahiers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355847"/>
            <a:ext cx="23774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50" b="1">
                <a:solidFill>
                  <a:srgbClr val="16662E"/>
                </a:solidFill>
                <a:latin typeface="Poppins"/>
              </a:rPr>
              <a:t>zoom 30 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3416" y="1874519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3416" y="1874519"/>
            <a:ext cx="2697480" cy="109728"/>
          </a:xfrm>
          <a:prstGeom prst="rect">
            <a:avLst/>
          </a:prstGeom>
          <a:solidFill>
            <a:srgbClr val="C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44584" y="2167127"/>
            <a:ext cx="411480" cy="411480"/>
          </a:xfrm>
          <a:prstGeom prst="roundRect">
            <a:avLst>
              <a:gd name="adj" fmla="val 8000"/>
            </a:avLst>
          </a:prstGeom>
          <a:solidFill>
            <a:srgbClr val="C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44584" y="2185415"/>
            <a:ext cx="411480" cy="32918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74936" y="2148839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F7A33"/>
                </a:solidFill>
                <a:latin typeface="Poppins"/>
              </a:rP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4936" y="2624327"/>
            <a:ext cx="1828800" cy="7315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73A2A"/>
                </a:solidFill>
                <a:latin typeface="Poppins"/>
              </a:rPr>
              <a:t>45 min par dossier · décision tracée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3355847"/>
            <a:ext cx="23774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50" b="1">
                <a:solidFill>
                  <a:srgbClr val="C08A00"/>
                </a:solidFill>
                <a:latin typeface="Poppins"/>
              </a:rPr>
              <a:t>5:00 – 6:30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977639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66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977639"/>
            <a:ext cx="2697480" cy="109728"/>
          </a:xfrm>
          <a:prstGeom prst="rect">
            <a:avLst/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8368" y="4270247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4288535"/>
            <a:ext cx="411480" cy="32918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251959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F7A33"/>
                </a:solidFill>
                <a:latin typeface="Poppins"/>
              </a:rPr>
              <a:t>L'équipe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727447"/>
            <a:ext cx="1828800" cy="7315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73A2A"/>
                </a:solidFill>
                <a:latin typeface="Poppins"/>
              </a:rPr>
              <a:t>Quatre métiers, un moteur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458967"/>
            <a:ext cx="23774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50" b="1">
                <a:solidFill>
                  <a:srgbClr val="16662E"/>
                </a:solidFill>
                <a:latin typeface="Poppins"/>
              </a:rPr>
              <a:t>6:30 – 7:00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19272" y="3977639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19272" y="3977639"/>
            <a:ext cx="2697480" cy="10972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520440" y="4270247"/>
            <a:ext cx="411480" cy="411480"/>
          </a:xfrm>
          <a:prstGeom prst="roundRect">
            <a:avLst>
              <a:gd name="adj" fmla="val 8000"/>
            </a:avLst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20440" y="4288535"/>
            <a:ext cx="411480" cy="32918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50792" y="4251959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F7A33"/>
                </a:solidFill>
                <a:latin typeface="Poppins"/>
              </a:rPr>
              <a:t>Suite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50792" y="4727447"/>
            <a:ext cx="1828800" cy="7315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73A2A"/>
                </a:solidFill>
                <a:latin typeface="Poppins"/>
              </a:rPr>
              <a:t>Pilote FUCEC · M6/M7 · ML réel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0440" y="5458967"/>
            <a:ext cx="23774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50" b="1">
                <a:solidFill>
                  <a:srgbClr val="2E9E50"/>
                </a:solidFill>
                <a:latin typeface="Poppins"/>
              </a:rPr>
              <a:t>7:00 – 7:30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81344" y="3977639"/>
            <a:ext cx="26974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F2C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81344" y="3977639"/>
            <a:ext cx="2697480" cy="109728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82512" y="4270247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82512" y="4288535"/>
            <a:ext cx="411480" cy="32918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12864" y="4251959"/>
            <a:ext cx="182880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F7A33"/>
                </a:solidFill>
                <a:latin typeface="Poppins"/>
              </a:rPr>
              <a:t>Mot de fin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12864" y="4727447"/>
            <a:ext cx="1828800" cy="7315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73A2A"/>
                </a:solidFill>
                <a:latin typeface="Poppins"/>
              </a:rPr>
              <a:t>L'humain décide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82512" y="5458967"/>
            <a:ext cx="23774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50" b="1">
                <a:solidFill>
                  <a:srgbClr val="F2C010"/>
                </a:solidFill>
                <a:latin typeface="Poppins"/>
              </a:rPr>
              <a:t>7:30 – 8:00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510528"/>
            <a:ext cx="11277295" cy="7620"/>
          </a:xfrm>
          <a:prstGeom prst="rect">
            <a:avLst/>
          </a:prstGeom>
          <a:solidFill>
            <a:srgbClr val="D6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565392"/>
            <a:ext cx="841248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850" b="0">
                <a:solidFill>
                  <a:srgbClr val="5F7A6B"/>
                </a:solidFill>
                <a:latin typeface="Poppins"/>
              </a:rPr>
              <a:t>DIGISCORE-WA · COPILOTE D'ÉLIGIBILITÉ ET DE PLAFOND DE CRÉDIT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6565392"/>
            <a:ext cx="25603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19" b="0">
                <a:solidFill>
                  <a:srgbClr val="5F7A6B"/>
                </a:solidFill>
                <a:latin typeface="Poppins"/>
              </a:rPr>
              <a:t>Équipe Alpha · CIF DigiCoop-WA+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6565392"/>
            <a:ext cx="7772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F7A6B"/>
                </a:solidFill>
                <a:latin typeface="Poppins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4450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2085"/>
            <a:ext cx="12191695" cy="22860"/>
          </a:xfrm>
          <a:prstGeom prst="rect">
            <a:avLst/>
          </a:prstGeom>
          <a:solidFill>
            <a:srgbClr val="E0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"/>
            <a:ext cx="137160" cy="292608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"/>
            <a:ext cx="877824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F2C010"/>
                </a:solidFill>
                <a:latin typeface="Poppins"/>
              </a:rPr>
              <a:t>1 · PROBLÈME ET CONTEXTE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"/>
            <a:ext cx="9509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</a:rPr>
              <a:t>Instruire un microcrédit reste manuel, lent et hétérogène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78440" y="182880"/>
            <a:ext cx="153619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376" y="285292"/>
            <a:ext cx="526694" cy="526694"/>
          </a:xfrm>
          <a:prstGeom prst="rect">
            <a:avLst/>
          </a:prstGeom>
        </p:spPr>
      </p:pic>
      <p:pic>
        <p:nvPicPr>
          <p:cNvPr id="11" name="Picture 10" descr="fuc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510" y="285292"/>
            <a:ext cx="526694" cy="526694"/>
          </a:xfrm>
          <a:prstGeom prst="rect">
            <a:avLst/>
          </a:prstGeom>
        </p:spPr>
      </p:pic>
      <p:pic>
        <p:nvPicPr>
          <p:cNvPr id="12" name="Picture 11" descr="t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1644" y="285292"/>
            <a:ext cx="366052" cy="5266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243584"/>
            <a:ext cx="1124712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0">
                <a:solidFill>
                  <a:srgbClr val="5F7A6B"/>
                </a:solidFill>
                <a:latin typeface="Poppins"/>
              </a:rPr>
              <a:t>Contexte CIF : l'historique du membre existe mais n'est pas exploité comme moteur d'éligibilité.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78308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F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2697480" cy="54864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28800"/>
            <a:ext cx="2697480" cy="1088136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F7A33"/>
                </a:solidFill>
                <a:latin typeface="Poppins"/>
              </a:rPr>
              <a:t>~ 3 h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173A2A"/>
                </a:solidFill>
                <a:latin typeface="Poppins"/>
              </a:rPr>
              <a:t>Par dossier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5F7A6B"/>
                </a:solidFill>
                <a:latin typeface="Poppins"/>
              </a:rPr>
              <a:t>Instruction manuelle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78308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783080"/>
            <a:ext cx="269748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828800"/>
            <a:ext cx="2697480" cy="1088136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C8102E"/>
                </a:solidFill>
                <a:latin typeface="Poppins"/>
              </a:rPr>
              <a:t>~ 8 %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173A2A"/>
                </a:solidFill>
                <a:latin typeface="Poppins"/>
              </a:rPr>
              <a:t>Impayés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5F7A6B"/>
                </a:solidFill>
                <a:latin typeface="Poppins"/>
              </a:rPr>
              <a:t>Retard dès J+1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8308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697480" cy="54864"/>
          </a:xfrm>
          <a:prstGeom prst="rect">
            <a:avLst/>
          </a:prstGeom>
          <a:solidFill>
            <a:srgbClr val="C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828800"/>
            <a:ext cx="2697480" cy="1088136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C08A00"/>
                </a:solidFill>
                <a:latin typeface="Poppins"/>
              </a:rPr>
              <a:t>100 %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173A2A"/>
                </a:solidFill>
                <a:latin typeface="Poppins"/>
              </a:rPr>
              <a:t>BIC / fiscal papier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5F7A6B"/>
                </a:solidFill>
                <a:latin typeface="Poppins"/>
              </a:rPr>
              <a:t>Cautions peu évaluées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783080"/>
            <a:ext cx="263347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F2C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783080"/>
            <a:ext cx="2633472" cy="54864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828800"/>
            <a:ext cx="2633472" cy="1088136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F2C010"/>
                </a:solidFill>
                <a:latin typeface="Poppins"/>
              </a:rPr>
              <a:t>0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173A2A"/>
                </a:solidFill>
                <a:latin typeface="Poppins"/>
              </a:rPr>
              <a:t>Historique exploité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5F7A6B"/>
                </a:solidFill>
                <a:latin typeface="Poppins"/>
              </a:rPr>
              <a:t>Comme moteur de 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29184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291840"/>
            <a:ext cx="5486400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520440"/>
            <a:ext cx="493776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Poppins"/>
              </a:rPr>
              <a:t>Ce que vit l'agent aujourd'hui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977639"/>
            <a:ext cx="4937760" cy="1554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Poppins"/>
              </a:rPr>
              <a:t>▸ </a:t>
            </a:r>
            <a:r>
              <a:rPr sz="1100" b="1">
                <a:solidFill>
                  <a:srgbClr val="1F7A33"/>
                </a:solidFill>
                <a:latin typeface="Poppins"/>
              </a:rPr>
              <a:t>3 heures : </a:t>
            </a:r>
            <a:r>
              <a:rPr sz="1100">
                <a:solidFill>
                  <a:srgbClr val="173A2A"/>
                </a:solidFill>
                <a:latin typeface="Poppins"/>
              </a:rPr>
              <a:t>par dossier, CAF et RCSD recalculés à la main.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Poppins"/>
              </a:rPr>
              <a:t>▸ </a:t>
            </a:r>
            <a:r>
              <a:rPr sz="1100" b="1">
                <a:solidFill>
                  <a:srgbClr val="1F7A33"/>
                </a:solidFill>
                <a:latin typeface="Poppins"/>
              </a:rPr>
              <a:t>Hétérogène : </a:t>
            </a:r>
            <a:r>
              <a:rPr sz="1100">
                <a:solidFill>
                  <a:srgbClr val="173A2A"/>
                </a:solidFill>
                <a:latin typeface="Poppins"/>
              </a:rPr>
              <a:t>chaque agence juge avec sa propre grille.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Poppins"/>
              </a:rPr>
              <a:t>▸ </a:t>
            </a:r>
            <a:r>
              <a:rPr sz="1100" b="1">
                <a:solidFill>
                  <a:srgbClr val="1F7A33"/>
                </a:solidFill>
                <a:latin typeface="Poppins"/>
              </a:rPr>
              <a:t>Invisible : </a:t>
            </a:r>
            <a:r>
              <a:rPr sz="1100">
                <a:solidFill>
                  <a:srgbClr val="173A2A"/>
                </a:solidFill>
                <a:latin typeface="Poppins"/>
              </a:rPr>
              <a:t>aucune trace exploitable pour auditer.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291840"/>
            <a:ext cx="5468112" cy="2377440"/>
          </a:xfrm>
          <a:prstGeom prst="roundRect">
            <a:avLst>
              <a:gd name="adj" fmla="val 8000"/>
            </a:avLst>
          </a:prstGeom>
          <a:solidFill>
            <a:srgbClr val="E7F4EA"/>
          </a:solidFill>
          <a:ln w="762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3520440"/>
            <a:ext cx="493776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1F7A33"/>
                </a:solidFill>
                <a:latin typeface="Poppins"/>
              </a:rPr>
              <a:t>La question posée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3977639"/>
            <a:ext cx="4937760" cy="1463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1F7A33"/>
                </a:solidFill>
                <a:latin typeface="Poppins"/>
              </a:rPr>
              <a:t>Objectiver l'éligibilité et le plafond</a:t>
            </a:r>
          </a:p>
          <a:p>
            <a:pPr algn="l"/>
            <a:r>
              <a:rPr sz="1300" b="1">
                <a:solidFill>
                  <a:srgbClr val="1F7A33"/>
                </a:solidFill>
                <a:latin typeface="Poppins"/>
              </a:rPr>
              <a:t>à partir du comportement du membre,</a:t>
            </a:r>
          </a:p>
          <a:p>
            <a:pPr algn="l"/>
            <a:r>
              <a:rPr sz="1300" b="1">
                <a:solidFill>
                  <a:srgbClr val="1F7A33"/>
                </a:solidFill>
                <a:latin typeface="Poppins"/>
              </a:rPr>
              <a:t>sans remplacer la décision humaine :</a:t>
            </a:r>
          </a:p>
          <a:p>
            <a:pPr algn="l"/>
            <a:r>
              <a:rPr sz="1300" b="1">
                <a:solidFill>
                  <a:srgbClr val="1F7A33"/>
                </a:solidFill>
                <a:latin typeface="Poppins"/>
              </a:rPr>
              <a:t>Agent → Chef d'agence → CIC.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510528"/>
            <a:ext cx="11277295" cy="7620"/>
          </a:xfrm>
          <a:prstGeom prst="rect">
            <a:avLst/>
          </a:prstGeom>
          <a:solidFill>
            <a:srgbClr val="D6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65392"/>
            <a:ext cx="841248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850" b="0">
                <a:solidFill>
                  <a:srgbClr val="5F7A6B"/>
                </a:solidFill>
                <a:latin typeface="Poppins"/>
              </a:rPr>
              <a:t>DIGISCORE-WA · COPILOTE D'ÉLIGIBILITÉ ET DE PLAFOND DE CRÉDIT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565392"/>
            <a:ext cx="25603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19" b="0">
                <a:solidFill>
                  <a:srgbClr val="5F7A6B"/>
                </a:solidFill>
                <a:latin typeface="Poppins"/>
              </a:rPr>
              <a:t>Équipe Alpha · CIF DigiCoop-WA+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65392"/>
            <a:ext cx="7772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F7A6B"/>
                </a:solidFill>
                <a:latin typeface="Poppins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4450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2085"/>
            <a:ext cx="12191695" cy="22860"/>
          </a:xfrm>
          <a:prstGeom prst="rect">
            <a:avLst/>
          </a:prstGeom>
          <a:solidFill>
            <a:srgbClr val="E0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"/>
            <a:ext cx="137160" cy="292608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"/>
            <a:ext cx="877824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F2C010"/>
                </a:solidFill>
                <a:latin typeface="Poppins"/>
              </a:rPr>
              <a:t>2 ·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"/>
            <a:ext cx="9509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</a:rPr>
              <a:t>DigiScore-WA : le copilote d'octroi des SFD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78440" y="182880"/>
            <a:ext cx="153619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376" y="285292"/>
            <a:ext cx="526694" cy="526694"/>
          </a:xfrm>
          <a:prstGeom prst="rect">
            <a:avLst/>
          </a:prstGeom>
        </p:spPr>
      </p:pic>
      <p:pic>
        <p:nvPicPr>
          <p:cNvPr id="11" name="Picture 10" descr="fuc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510" y="285292"/>
            <a:ext cx="526694" cy="526694"/>
          </a:xfrm>
          <a:prstGeom prst="rect">
            <a:avLst/>
          </a:prstGeom>
        </p:spPr>
      </p:pic>
      <p:pic>
        <p:nvPicPr>
          <p:cNvPr id="12" name="Picture 11" descr="t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1644" y="285292"/>
            <a:ext cx="366052" cy="5266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243584"/>
            <a:ext cx="1124712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0">
                <a:solidFill>
                  <a:srgbClr val="5F7A6B"/>
                </a:solidFill>
                <a:latin typeface="Poppins"/>
              </a:rPr>
              <a:t>À partir du dossier du membre, il propose un score, un plafond et un message — la décision reste humaine.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78308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F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486400" cy="109728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011680"/>
            <a:ext cx="493776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1F7A33"/>
                </a:solidFill>
                <a:latin typeface="Poppins"/>
              </a:rPr>
              <a:t>Ce que fait le copilote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468880"/>
            <a:ext cx="4937760" cy="2377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F7A33"/>
                </a:solidFill>
                <a:latin typeface="Poppins"/>
              </a:rPr>
              <a:t>▸ </a:t>
            </a:r>
            <a:r>
              <a:rPr sz="1100" b="1">
                <a:solidFill>
                  <a:srgbClr val="1F7A33"/>
                </a:solidFill>
                <a:latin typeface="Poppins"/>
              </a:rPr>
              <a:t>Il assemble : </a:t>
            </a:r>
            <a:r>
              <a:rPr sz="1100">
                <a:solidFill>
                  <a:srgbClr val="173A2A"/>
                </a:solidFill>
                <a:latin typeface="Poppins"/>
              </a:rPr>
              <a:t>le dossier du membre — historique agence, preuves externes, collecte A–E, BIC/fiscal, cautions.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F7A33"/>
                </a:solidFill>
                <a:latin typeface="Poppins"/>
              </a:rPr>
              <a:t>▸ </a:t>
            </a:r>
            <a:r>
              <a:rPr sz="1100" b="1">
                <a:solidFill>
                  <a:srgbClr val="1F7A33"/>
                </a:solidFill>
                <a:latin typeface="Poppins"/>
              </a:rPr>
              <a:t>Il évalue : </a:t>
            </a:r>
            <a:r>
              <a:rPr sz="1100">
                <a:solidFill>
                  <a:srgbClr val="173A2A"/>
                </a:solidFill>
                <a:latin typeface="Poppins"/>
              </a:rPr>
              <a:t>un score /100 sur 6 critères métier et un plafond recommandé, avec un message clair.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F7A33"/>
                </a:solidFill>
                <a:latin typeface="Poppins"/>
              </a:rPr>
              <a:t>▸ </a:t>
            </a:r>
            <a:r>
              <a:rPr sz="1100" b="1">
                <a:solidFill>
                  <a:srgbClr val="1F7A33"/>
                </a:solidFill>
                <a:latin typeface="Poppins"/>
              </a:rPr>
              <a:t>Il protège : </a:t>
            </a:r>
            <a:r>
              <a:rPr sz="1100">
                <a:solidFill>
                  <a:srgbClr val="173A2A"/>
                </a:solidFill>
                <a:latin typeface="Poppins"/>
              </a:rPr>
              <a:t>des garde-fous bloquants (RCSD, ESG, fiscal, cautions, incidents) avant toute recommandation.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F7A33"/>
                </a:solidFill>
                <a:latin typeface="Poppins"/>
              </a:rPr>
              <a:t>▸ </a:t>
            </a:r>
            <a:r>
              <a:rPr sz="1100" b="1">
                <a:solidFill>
                  <a:srgbClr val="1F7A33"/>
                </a:solidFill>
                <a:latin typeface="Poppins"/>
              </a:rPr>
              <a:t>Il laisse décider : </a:t>
            </a:r>
            <a:r>
              <a:rPr sz="1100">
                <a:solidFill>
                  <a:srgbClr val="173A2A"/>
                </a:solidFill>
                <a:latin typeface="Poppins"/>
              </a:rPr>
              <a:t>Agent → Chef d'agence → CIC ; chaque décision et override sont tracés.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783080"/>
            <a:ext cx="5468112" cy="3246120"/>
          </a:xfrm>
          <a:prstGeom prst="roundRect">
            <a:avLst>
              <a:gd name="adj" fmla="val 8000"/>
            </a:avLst>
          </a:prstGeom>
          <a:solidFill>
            <a:srgbClr val="E7F4EA"/>
          </a:solidFill>
          <a:ln w="762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011680"/>
            <a:ext cx="493776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2E9E50"/>
                </a:solidFill>
                <a:latin typeface="Poppins"/>
              </a:rPr>
              <a:t>Ce que chacun y gagne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9672" y="2596896"/>
            <a:ext cx="100584" cy="274320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2542032"/>
            <a:ext cx="1600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50" b="1">
                <a:solidFill>
                  <a:srgbClr val="1F7A33"/>
                </a:solidFill>
                <a:latin typeface="Poppins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23744"/>
            <a:ext cx="31546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73A2A"/>
                </a:solidFill>
                <a:latin typeface="Poppins"/>
              </a:rPr>
              <a:t>instruit plus vite, avec un message prêt pour l'entretien.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9672" y="3200400"/>
            <a:ext cx="100584" cy="274320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3145536"/>
            <a:ext cx="1600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50" b="1">
                <a:solidFill>
                  <a:srgbClr val="1F7A33"/>
                </a:solidFill>
                <a:latin typeface="Poppins"/>
              </a:rPr>
              <a:t>Chef d'agence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127248"/>
            <a:ext cx="31546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73A2A"/>
                </a:solidFill>
                <a:latin typeface="Poppins"/>
              </a:rPr>
              <a:t>des dossiers triés et comparables d'une agence à l'autre.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9672" y="3803903"/>
            <a:ext cx="100584" cy="274320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3749039"/>
            <a:ext cx="1600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50" b="1">
                <a:solidFill>
                  <a:srgbClr val="1F7A33"/>
                </a:solidFill>
                <a:latin typeface="Poppins"/>
              </a:rPr>
              <a:t>CIC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30751"/>
            <a:ext cx="31546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73A2A"/>
                </a:solidFill>
                <a:latin typeface="Poppins"/>
              </a:rPr>
              <a:t>la voie exceptionnelle instruite avec garanties et simulations.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19672" y="4407408"/>
            <a:ext cx="100584" cy="274320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2" y="4352544"/>
            <a:ext cx="1600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50" b="1">
                <a:solidFill>
                  <a:srgbClr val="1F7A33"/>
                </a:solidFill>
                <a:latin typeface="Poppins"/>
              </a:rPr>
              <a:t>Direction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334256"/>
            <a:ext cx="31546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73A2A"/>
                </a:solidFill>
                <a:latin typeface="Poppins"/>
              </a:rPr>
              <a:t>des décisions et un portefeuille lisibles, auditables.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12080"/>
            <a:ext cx="11274552" cy="1005840"/>
          </a:xfrm>
          <a:prstGeom prst="roundRect">
            <a:avLst>
              <a:gd name="adj" fmla="val 8000"/>
            </a:avLst>
          </a:prstGeom>
          <a:solidFill>
            <a:srgbClr val="FFF7D6"/>
          </a:solidFill>
          <a:ln w="7620">
            <a:solidFill>
              <a:srgbClr val="F2C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358384"/>
            <a:ext cx="106984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50" b="1">
                <a:solidFill>
                  <a:srgbClr val="1F7A33"/>
                </a:solidFill>
                <a:latin typeface="Poppins"/>
              </a:rPr>
              <a:t>La différence : plafond type télécom · membre préalable · 3 niveaux humains · ML shadow · sidecar ADD-only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705856"/>
            <a:ext cx="106984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000" b="0">
                <a:solidFill>
                  <a:srgbClr val="5F7A6B"/>
                </a:solidFill>
                <a:latin typeface="Poppins"/>
              </a:rPr>
              <a:t>L'IA éclaire, l'humain décide.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510528"/>
            <a:ext cx="11277295" cy="7620"/>
          </a:xfrm>
          <a:prstGeom prst="rect">
            <a:avLst/>
          </a:prstGeom>
          <a:solidFill>
            <a:srgbClr val="D6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65392"/>
            <a:ext cx="841248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850" b="0">
                <a:solidFill>
                  <a:srgbClr val="5F7A6B"/>
                </a:solidFill>
                <a:latin typeface="Poppins"/>
              </a:rPr>
              <a:t>DIGISCORE-WA · COPILOTE D'ÉLIGIBILITÉ ET DE PLAFOND DE CRÉDIT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565392"/>
            <a:ext cx="25603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19" b="0">
                <a:solidFill>
                  <a:srgbClr val="5F7A6B"/>
                </a:solidFill>
                <a:latin typeface="Poppins"/>
              </a:rPr>
              <a:t>Équipe Alpha · CIF DigiCoop-WA+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65392"/>
            <a:ext cx="7772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F7A6B"/>
                </a:solidFill>
                <a:latin typeface="Poppins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4450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2085"/>
            <a:ext cx="12191695" cy="22860"/>
          </a:xfrm>
          <a:prstGeom prst="rect">
            <a:avLst/>
          </a:prstGeom>
          <a:solidFill>
            <a:srgbClr val="E0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"/>
            <a:ext cx="137160" cy="292608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"/>
            <a:ext cx="877824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F2C010"/>
                </a:solidFill>
                <a:latin typeface="Poppins"/>
              </a:rPr>
              <a:t>3 · ARCHITECTURE · BASE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"/>
            <a:ext cx="9509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</a:rPr>
              <a:t>Un sidecar ADD-only : on lit le SI, on n'écrit que digiscore_*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78440" y="182880"/>
            <a:ext cx="153619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376" y="285292"/>
            <a:ext cx="526694" cy="526694"/>
          </a:xfrm>
          <a:prstGeom prst="rect">
            <a:avLst/>
          </a:prstGeom>
        </p:spPr>
      </p:pic>
      <p:pic>
        <p:nvPicPr>
          <p:cNvPr id="11" name="Picture 10" descr="fuc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510" y="285292"/>
            <a:ext cx="526694" cy="526694"/>
          </a:xfrm>
          <a:prstGeom prst="rect">
            <a:avLst/>
          </a:prstGeom>
        </p:spPr>
      </p:pic>
      <p:pic>
        <p:nvPicPr>
          <p:cNvPr id="12" name="Picture 11" descr="t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1644" y="285292"/>
            <a:ext cx="366052" cy="5266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243584"/>
            <a:ext cx="1124712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0">
                <a:solidFill>
                  <a:srgbClr val="5F7A6B"/>
                </a:solidFill>
                <a:latin typeface="Poppins"/>
              </a:rPr>
              <a:t>40+ tables en 5 blocs — deux cahiers jamais fusionnés — dates point-in-time pour le PAR.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783080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F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2148840" cy="91440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38528"/>
            <a:ext cx="196596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50" b="1">
                <a:solidFill>
                  <a:srgbClr val="1F7A33"/>
                </a:solidFill>
                <a:latin typeface="Poppins"/>
              </a:rPr>
              <a:t>Référentiels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30428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32257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agency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62432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264261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credit_product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94436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296265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app_user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26440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28269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digiscore_member_map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24328" y="2834640"/>
            <a:ext cx="82296" cy="146304"/>
          </a:xfrm>
          <a:prstGeom prst="roundRect">
            <a:avLst>
              <a:gd name="adj" fmla="val 8000"/>
            </a:avLst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15768" y="1783080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15768" y="1783080"/>
            <a:ext cx="2148840" cy="91440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07208" y="1938528"/>
            <a:ext cx="196596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50" b="1">
                <a:solidFill>
                  <a:srgbClr val="2E9E50"/>
                </a:solidFill>
                <a:latin typeface="Poppins"/>
              </a:rPr>
              <a:t>Membre &amp; agence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25496" y="230428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62072" y="232257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member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25496" y="262432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2072" y="264261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account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25496" y="294436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62072" y="296265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account_movement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25496" y="326440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62072" y="328269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savings_snapshot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25496" y="358444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62072" y="360273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past_credit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82896" y="2834640"/>
            <a:ext cx="82296" cy="146304"/>
          </a:xfrm>
          <a:prstGeom prst="roundRect">
            <a:avLst>
              <a:gd name="adj" fmla="val 8000"/>
            </a:avLst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974336" y="1783080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74336" y="1783080"/>
            <a:ext cx="2148840" cy="91440"/>
          </a:xfrm>
          <a:prstGeom prst="rect">
            <a:avLst/>
          </a:prstGeom>
          <a:solidFill>
            <a:srgbClr val="C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65776" y="1938528"/>
            <a:ext cx="196596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50" b="1">
                <a:solidFill>
                  <a:srgbClr val="C08A00"/>
                </a:solidFill>
                <a:latin typeface="Poppins"/>
              </a:rPr>
              <a:t>Demande &amp; collecte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84064" y="230428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0" y="232257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credit_application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84064" y="262432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264261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income_expense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84064" y="294436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0" y="296265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wealth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84064" y="326440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328269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guarantor_review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41464" y="2834640"/>
            <a:ext cx="82296" cy="146304"/>
          </a:xfrm>
          <a:prstGeom prst="roundRect">
            <a:avLst>
              <a:gd name="adj" fmla="val 8000"/>
            </a:avLst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232904" y="1783080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66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32904" y="1783080"/>
            <a:ext cx="2148840" cy="91440"/>
          </a:xfrm>
          <a:prstGeom prst="rect">
            <a:avLst/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24344" y="1938528"/>
            <a:ext cx="196596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50" b="1">
                <a:solidFill>
                  <a:srgbClr val="16662E"/>
                </a:solidFill>
                <a:latin typeface="Poppins"/>
              </a:rPr>
              <a:t>Score &amp; décision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42632" y="230428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79208" y="232257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score_result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42632" y="262432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79208" y="264261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financial_ratio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42632" y="294436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79208" y="296265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decision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42632" y="326440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79208" y="328269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audit_log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00032" y="2834640"/>
            <a:ext cx="82296" cy="146304"/>
          </a:xfrm>
          <a:prstGeom prst="roundRect">
            <a:avLst>
              <a:gd name="adj" fmla="val 8000"/>
            </a:avLst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491472" y="1783080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66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91472" y="1783080"/>
            <a:ext cx="2148840" cy="91440"/>
          </a:xfrm>
          <a:prstGeom prst="rect">
            <a:avLst/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82912" y="1938528"/>
            <a:ext cx="196596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50" b="1">
                <a:solidFill>
                  <a:srgbClr val="16662E"/>
                </a:solidFill>
                <a:latin typeface="Poppins"/>
              </a:rPr>
              <a:t>Ailleurs &amp; pilotage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01200" y="230428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37776" y="232257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external_account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01200" y="262432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37776" y="264261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bic_report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01200" y="294436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37776" y="296265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outstanding_loan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01200" y="326440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37776" y="328269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portfolio_followup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01200" y="3584448"/>
            <a:ext cx="1929384" cy="27432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37776" y="3602736"/>
            <a:ext cx="1856231" cy="23774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l"/>
            <a:r>
              <a:rPr sz="780" b="0">
                <a:solidFill>
                  <a:srgbClr val="173A2A"/>
                </a:solidFill>
                <a:latin typeface="Poppins"/>
              </a:rPr>
              <a:t>recovery_case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434840"/>
            <a:ext cx="11274552" cy="1417320"/>
          </a:xfrm>
          <a:prstGeom prst="roundRect">
            <a:avLst>
              <a:gd name="adj" fmla="val 8000"/>
            </a:avLst>
          </a:prstGeom>
          <a:solidFill>
            <a:srgbClr val="E7F4EA"/>
          </a:solidFill>
          <a:ln w="762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3232" y="4617720"/>
            <a:ext cx="1069848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400" b="1">
                <a:solidFill>
                  <a:srgbClr val="1F7A33"/>
                </a:solidFill>
                <a:latin typeface="Poppins"/>
              </a:rPr>
              <a:t>Trois règles d'architecture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3232" y="5029200"/>
            <a:ext cx="10698480" cy="7315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050" b="0">
                <a:solidFill>
                  <a:srgbClr val="173A2A"/>
                </a:solidFill>
                <a:latin typeface="Poppins"/>
              </a:rPr>
              <a:t>1. Deux cahiers jamais fusionnés   ·   2. Écriture digiscore_* uniquement, aucun ALTER du SI   ·   3. Dates partout → PAR constructible.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6510528"/>
            <a:ext cx="11277295" cy="7620"/>
          </a:xfrm>
          <a:prstGeom prst="rect">
            <a:avLst/>
          </a:prstGeom>
          <a:solidFill>
            <a:srgbClr val="D6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6565392"/>
            <a:ext cx="841248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850" b="0">
                <a:solidFill>
                  <a:srgbClr val="5F7A6B"/>
                </a:solidFill>
                <a:latin typeface="Poppins"/>
              </a:rPr>
              <a:t>DIGISCORE-WA · COPILOTE D'ÉLIGIBILITÉ ET DE PLAFOND DE CRÉDIT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6565392"/>
            <a:ext cx="25603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19" b="0">
                <a:solidFill>
                  <a:srgbClr val="5F7A6B"/>
                </a:solidFill>
                <a:latin typeface="Poppins"/>
              </a:rPr>
              <a:t>Équipe Alpha · CIF DigiCoop-WA+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0" y="6565392"/>
            <a:ext cx="7772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F7A6B"/>
                </a:solidFill>
                <a:latin typeface="Poppins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4450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2085"/>
            <a:ext cx="12191695" cy="22860"/>
          </a:xfrm>
          <a:prstGeom prst="rect">
            <a:avLst/>
          </a:prstGeom>
          <a:solidFill>
            <a:srgbClr val="E0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"/>
            <a:ext cx="137160" cy="292608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"/>
            <a:ext cx="877824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F2C010"/>
                </a:solidFill>
                <a:latin typeface="Poppins"/>
              </a:rPr>
              <a:t>4 ·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"/>
            <a:ext cx="9509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</a:rPr>
              <a:t>3 h → 45 min, et une décision comparable partout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78440" y="182880"/>
            <a:ext cx="153619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376" y="285292"/>
            <a:ext cx="526694" cy="526694"/>
          </a:xfrm>
          <a:prstGeom prst="rect">
            <a:avLst/>
          </a:prstGeom>
        </p:spPr>
      </p:pic>
      <p:pic>
        <p:nvPicPr>
          <p:cNvPr id="11" name="Picture 10" descr="fuc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510" y="285292"/>
            <a:ext cx="526694" cy="526694"/>
          </a:xfrm>
          <a:prstGeom prst="rect">
            <a:avLst/>
          </a:prstGeom>
        </p:spPr>
      </p:pic>
      <p:pic>
        <p:nvPicPr>
          <p:cNvPr id="12" name="Picture 11" descr="t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1644" y="285292"/>
            <a:ext cx="366052" cy="5266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243584"/>
            <a:ext cx="1124712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0">
                <a:solidFill>
                  <a:srgbClr val="5F7A6B"/>
                </a:solidFill>
                <a:latin typeface="Poppins"/>
              </a:rPr>
              <a:t>Objectifs cibles du pilote : temps d'instruction, qualité du portefeuille, traçabilité.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7373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66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737360"/>
            <a:ext cx="2560320" cy="54864"/>
          </a:xfrm>
          <a:prstGeom prst="rect">
            <a:avLst/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783080"/>
            <a:ext cx="2560320" cy="905256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6662E"/>
                </a:solidFill>
                <a:latin typeface="Poppins"/>
              </a:rPr>
              <a:t>3 h → 45 min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173A2A"/>
                </a:solidFill>
                <a:latin typeface="Poppins"/>
              </a:rPr>
              <a:t>Instruction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5F7A6B"/>
                </a:solidFill>
                <a:latin typeface="Poppins"/>
              </a:rPr>
              <a:t>×4 plus rapide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17373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1737360"/>
            <a:ext cx="2560320" cy="54864"/>
          </a:xfrm>
          <a:prstGeom prst="rect">
            <a:avLst/>
          </a:prstGeom>
          <a:solidFill>
            <a:srgbClr val="C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1783080"/>
            <a:ext cx="2560320" cy="905256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C08A00"/>
                </a:solidFill>
                <a:latin typeface="Poppins"/>
              </a:rPr>
              <a:t>8 % → 5 %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173A2A"/>
                </a:solidFill>
                <a:latin typeface="Poppins"/>
              </a:rPr>
              <a:t>Impayés (vision)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5F7A6B"/>
                </a:solidFill>
                <a:latin typeface="Poppins"/>
              </a:rPr>
              <a:t>Sous contrôle hebdo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7373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F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737360"/>
            <a:ext cx="2560320" cy="54864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783080"/>
            <a:ext cx="2560320" cy="905256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F7A33"/>
                </a:solidFill>
                <a:latin typeface="Poppins"/>
              </a:rPr>
              <a:t>100 %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173A2A"/>
                </a:solidFill>
                <a:latin typeface="Poppins"/>
              </a:rPr>
              <a:t>Décisions tracées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5F7A6B"/>
                </a:solidFill>
                <a:latin typeface="Poppins"/>
              </a:rPr>
              <a:t>Audit BCEAO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173736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66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1737360"/>
            <a:ext cx="3017520" cy="54864"/>
          </a:xfrm>
          <a:prstGeom prst="rect">
            <a:avLst/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1783080"/>
            <a:ext cx="3017520" cy="905256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16662E"/>
                </a:solidFill>
                <a:latin typeface="Poppins"/>
              </a:rPr>
              <a:t>1 grille</a:t>
            </a:r>
          </a:p>
          <a:p>
            <a:pPr algn="ctr">
              <a:spcAft>
                <a:spcPts val="100"/>
              </a:spcAft>
            </a:pPr>
            <a:r>
              <a:rPr sz="950" b="1">
                <a:solidFill>
                  <a:srgbClr val="173A2A"/>
                </a:solidFill>
                <a:latin typeface="Poppins"/>
              </a:rPr>
              <a:t>Pour toutes les agences</a:t>
            </a:r>
          </a:p>
          <a:p>
            <a:pPr algn="ctr">
              <a:spcAft>
                <a:spcPts val="100"/>
              </a:spcAft>
            </a:pPr>
            <a:r>
              <a:rPr sz="800" b="0">
                <a:solidFill>
                  <a:srgbClr val="5F7A6B"/>
                </a:solidFill>
                <a:latin typeface="Poppins"/>
              </a:rPr>
              <a:t>Fini le cas par cas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291840"/>
            <a:ext cx="1127455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493008"/>
            <a:ext cx="1069848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400" b="1">
                <a:solidFill>
                  <a:srgbClr val="1F7A33"/>
                </a:solidFill>
                <a:latin typeface="Poppins"/>
              </a:rPr>
              <a:t>Bénéfices attendus (cible pilote)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977639"/>
            <a:ext cx="21031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1F7A33"/>
                </a:solidFill>
                <a:latin typeface="Poppins"/>
              </a:rPr>
              <a:t>Temps d'instruction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4014215"/>
            <a:ext cx="6583680" cy="18288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17520" y="4014215"/>
            <a:ext cx="4937760" cy="182880"/>
          </a:xfrm>
          <a:prstGeom prst="roundRect">
            <a:avLst>
              <a:gd name="adj" fmla="val 8000"/>
            </a:avLst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3977639"/>
            <a:ext cx="173736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50" b="1">
                <a:solidFill>
                  <a:srgbClr val="16662E"/>
                </a:solidFill>
                <a:latin typeface="Poppins"/>
              </a:rPr>
              <a:t>− 75 %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306824"/>
            <a:ext cx="21031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1F7A33"/>
                </a:solidFill>
                <a:latin typeface="Poppins"/>
              </a:rPr>
              <a:t>Dossiers documentés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4343400"/>
            <a:ext cx="6583680" cy="18288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017520" y="4343400"/>
            <a:ext cx="2633472" cy="182880"/>
          </a:xfrm>
          <a:prstGeom prst="roundRect">
            <a:avLst>
              <a:gd name="adj" fmla="val 8000"/>
            </a:avLst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4306824"/>
            <a:ext cx="173736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50" b="1">
                <a:solidFill>
                  <a:srgbClr val="16662E"/>
                </a:solidFill>
                <a:latin typeface="Poppins"/>
              </a:rPr>
              <a:t>+ 40 %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636007"/>
            <a:ext cx="21031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1F7A33"/>
                </a:solidFill>
                <a:latin typeface="Poppins"/>
              </a:rPr>
              <a:t>Décisions tracées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0" y="4672583"/>
            <a:ext cx="6583680" cy="18288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017520" y="4672583"/>
            <a:ext cx="6583680" cy="182880"/>
          </a:xfrm>
          <a:prstGeom prst="roundRect">
            <a:avLst>
              <a:gd name="adj" fmla="val 8000"/>
            </a:avLst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4636007"/>
            <a:ext cx="173736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50" b="1">
                <a:solidFill>
                  <a:srgbClr val="1F7A33"/>
                </a:solidFill>
                <a:latin typeface="Poppins"/>
              </a:rPr>
              <a:t>100 %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965192"/>
            <a:ext cx="21031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1F7A33"/>
                </a:solidFill>
                <a:latin typeface="Poppins"/>
              </a:rPr>
              <a:t>Dérive PAR détectée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01768"/>
            <a:ext cx="6583680" cy="18288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017520" y="5001768"/>
            <a:ext cx="3950208" cy="182880"/>
          </a:xfrm>
          <a:prstGeom prst="roundRect">
            <a:avLst>
              <a:gd name="adj" fmla="val 8000"/>
            </a:avLst>
          </a:prstGeom>
          <a:solidFill>
            <a:srgbClr val="C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0" y="4965192"/>
            <a:ext cx="173736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50" b="1">
                <a:solidFill>
                  <a:srgbClr val="C08A00"/>
                </a:solidFill>
                <a:latin typeface="Poppins"/>
              </a:rPr>
              <a:t>plus tôt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440680"/>
            <a:ext cx="11274552" cy="822960"/>
          </a:xfrm>
          <a:prstGeom prst="roundRect">
            <a:avLst>
              <a:gd name="adj" fmla="val 8000"/>
            </a:avLst>
          </a:prstGeom>
          <a:solidFill>
            <a:srgbClr val="FFF7D6"/>
          </a:solidFill>
          <a:ln w="7620">
            <a:solidFill>
              <a:srgbClr val="F2C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577840"/>
            <a:ext cx="10698480" cy="502920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150" b="1">
                <a:solidFill>
                  <a:srgbClr val="1F7A33"/>
                </a:solidFill>
                <a:latin typeface="Poppins"/>
              </a:rPr>
              <a:t>Objectiver sans remplacer : le moteur recommande, l'agent/chef/CIC décide — et chaque écart devient une donnée pour améliorer la grille.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510528"/>
            <a:ext cx="11277295" cy="7620"/>
          </a:xfrm>
          <a:prstGeom prst="rect">
            <a:avLst/>
          </a:prstGeom>
          <a:solidFill>
            <a:srgbClr val="D6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565392"/>
            <a:ext cx="841248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850" b="0">
                <a:solidFill>
                  <a:srgbClr val="5F7A6B"/>
                </a:solidFill>
                <a:latin typeface="Poppins"/>
              </a:rPr>
              <a:t>DIGISCORE-WA · COPILOTE D'ÉLIGIBILITÉ ET DE PLAFOND DE CRÉDIT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6565392"/>
            <a:ext cx="25603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19" b="0">
                <a:solidFill>
                  <a:srgbClr val="5F7A6B"/>
                </a:solidFill>
                <a:latin typeface="Poppins"/>
              </a:rPr>
              <a:t>Équipe Alpha · CIF DigiCoop-WA+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565392"/>
            <a:ext cx="7772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F7A6B"/>
                </a:solidFill>
                <a:latin typeface="Poppins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4450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2085"/>
            <a:ext cx="12191695" cy="22860"/>
          </a:xfrm>
          <a:prstGeom prst="rect">
            <a:avLst/>
          </a:prstGeom>
          <a:solidFill>
            <a:srgbClr val="E0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"/>
            <a:ext cx="137160" cy="292608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"/>
            <a:ext cx="877824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F2C010"/>
                </a:solidFill>
                <a:latin typeface="Poppins"/>
              </a:rPr>
              <a:t>5 · L'ÉQUIPE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"/>
            <a:ext cx="9509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</a:rPr>
              <a:t>Équipe Alpha — cinq profils, un seul moteur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78440" y="182880"/>
            <a:ext cx="153619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376" y="285292"/>
            <a:ext cx="526694" cy="526694"/>
          </a:xfrm>
          <a:prstGeom prst="rect">
            <a:avLst/>
          </a:prstGeom>
        </p:spPr>
      </p:pic>
      <p:pic>
        <p:nvPicPr>
          <p:cNvPr id="11" name="Picture 10" descr="fuc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510" y="285292"/>
            <a:ext cx="526694" cy="526694"/>
          </a:xfrm>
          <a:prstGeom prst="rect">
            <a:avLst/>
          </a:prstGeom>
        </p:spPr>
      </p:pic>
      <p:pic>
        <p:nvPicPr>
          <p:cNvPr id="12" name="Picture 11" descr="t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1644" y="285292"/>
            <a:ext cx="366052" cy="5266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243584"/>
            <a:ext cx="1124712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0">
                <a:solidFill>
                  <a:srgbClr val="5F7A6B"/>
                </a:solidFill>
                <a:latin typeface="Poppins"/>
              </a:rPr>
              <a:t>Finance, base de données, produit, data science, fullstack : une seule référence, le cahier des charges.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28800"/>
            <a:ext cx="2148840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F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2148840" cy="109728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202996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048256"/>
            <a:ext cx="411480" cy="32918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578608"/>
            <a:ext cx="1929384" cy="7772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50" b="1">
                <a:solidFill>
                  <a:srgbClr val="1F7A33"/>
                </a:solidFill>
                <a:latin typeface="Poppins"/>
              </a:rPr>
              <a:t>ADEKOUDJO ADENKA KOMLA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154680"/>
            <a:ext cx="1929384" cy="7772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860" b="0">
                <a:solidFill>
                  <a:srgbClr val="5F7A6B"/>
                </a:solidFill>
                <a:latin typeface="Poppins"/>
              </a:rPr>
              <a:t>Chef de l'équipe</a:t>
            </a:r>
          </a:p>
          <a:p>
            <a:pPr algn="ctr"/>
            <a:r>
              <a:rPr sz="860" b="0">
                <a:solidFill>
                  <a:srgbClr val="5F7A6B"/>
                </a:solidFill>
                <a:latin typeface="Poppins"/>
              </a:rPr>
              <a:t>Finance, banque et assurance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15768" y="1828800"/>
            <a:ext cx="2148840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15768" y="1828800"/>
            <a:ext cx="2148840" cy="10972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62072" y="202996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62072" y="2048256"/>
            <a:ext cx="411480" cy="32918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496" y="2578608"/>
            <a:ext cx="1929384" cy="7772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50" b="1">
                <a:solidFill>
                  <a:srgbClr val="1F7A33"/>
                </a:solidFill>
                <a:latin typeface="Poppins"/>
              </a:rPr>
              <a:t>AYOLA ESSOREOU MOISE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5496" y="3154680"/>
            <a:ext cx="1929384" cy="7772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860" b="0">
                <a:solidFill>
                  <a:srgbClr val="5F7A6B"/>
                </a:solidFill>
                <a:latin typeface="Poppins"/>
              </a:rPr>
              <a:t>Expert base de données</a:t>
            </a:r>
          </a:p>
          <a:p>
            <a:pPr algn="ctr"/>
            <a:r>
              <a:rPr sz="860" b="0">
                <a:solidFill>
                  <a:srgbClr val="5F7A6B"/>
                </a:solidFill>
                <a:latin typeface="Poppins"/>
              </a:rPr>
              <a:t>Développeur Backend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74336" y="1828800"/>
            <a:ext cx="2148840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4336" y="1828800"/>
            <a:ext cx="2148840" cy="109728"/>
          </a:xfrm>
          <a:prstGeom prst="rect">
            <a:avLst/>
          </a:prstGeom>
          <a:solidFill>
            <a:srgbClr val="C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20640" y="202996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C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2048256"/>
            <a:ext cx="411480" cy="32918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2578608"/>
            <a:ext cx="1929384" cy="7772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50" b="1">
                <a:solidFill>
                  <a:srgbClr val="1F7A33"/>
                </a:solidFill>
                <a:latin typeface="Poppins"/>
              </a:rPr>
              <a:t>KOUDJEGA FERDINE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4064" y="3154680"/>
            <a:ext cx="1929384" cy="7772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860" b="0">
                <a:solidFill>
                  <a:srgbClr val="5F7A6B"/>
                </a:solidFill>
                <a:latin typeface="Poppins"/>
              </a:rPr>
              <a:t>Conception fonctionnelle, communication et interface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32904" y="1828800"/>
            <a:ext cx="2148840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66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32904" y="1828800"/>
            <a:ext cx="2148840" cy="109728"/>
          </a:xfrm>
          <a:prstGeom prst="rect">
            <a:avLst/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79208" y="202996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208" y="2048256"/>
            <a:ext cx="411480" cy="32918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2632" y="2578608"/>
            <a:ext cx="1929384" cy="7772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50" b="1">
                <a:solidFill>
                  <a:srgbClr val="1F7A33"/>
                </a:solidFill>
                <a:latin typeface="Poppins"/>
              </a:rPr>
              <a:t>AMAH-TCHOUTCHOU ELIKPLIM JOSUE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2632" y="3154680"/>
            <a:ext cx="1929384" cy="7772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860" b="0">
                <a:solidFill>
                  <a:srgbClr val="5F7A6B"/>
                </a:solidFill>
                <a:latin typeface="Poppins"/>
              </a:rPr>
              <a:t>Data Scientist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91472" y="1828800"/>
            <a:ext cx="2148840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F2C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91472" y="1828800"/>
            <a:ext cx="2148840" cy="109728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637776" y="202996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37776" y="2048256"/>
            <a:ext cx="411480" cy="329184"/>
          </a:xfrm>
          <a:prstGeom prst="rect">
            <a:avLst/>
          </a:prstGeom>
          <a:noFill/>
        </p:spPr>
        <p:txBody>
          <a:bodyPr wrap="square" anchor="ctr" lIns="50800" rIns="50800" tIns="50800" bIns="508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2578608"/>
            <a:ext cx="1929384" cy="7772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950" b="1">
                <a:solidFill>
                  <a:srgbClr val="1F7A33"/>
                </a:solidFill>
                <a:latin typeface="Poppins"/>
              </a:rPr>
              <a:t>KOUASSI AHLONKOBA ARIELLE KEPHIRA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154680"/>
            <a:ext cx="1929384" cy="7772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860" b="0">
                <a:solidFill>
                  <a:srgbClr val="5F7A6B"/>
                </a:solidFill>
                <a:latin typeface="Poppins"/>
              </a:rPr>
              <a:t>Développeuse Fullstack, Designer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343400"/>
            <a:ext cx="11274552" cy="1691640"/>
          </a:xfrm>
          <a:prstGeom prst="roundRect">
            <a:avLst>
              <a:gd name="adj" fmla="val 8000"/>
            </a:avLst>
          </a:prstGeom>
          <a:solidFill>
            <a:srgbClr val="E7F4EA"/>
          </a:solidFill>
          <a:ln w="762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4507992"/>
            <a:ext cx="1069848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400" b="1">
                <a:solidFill>
                  <a:srgbClr val="1F7A33"/>
                </a:solidFill>
                <a:latin typeface="Poppins"/>
              </a:rPr>
              <a:t>Comment on a travaillé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4919472"/>
            <a:ext cx="10698480" cy="960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E9E50"/>
                </a:solidFill>
                <a:latin typeface="Poppins"/>
              </a:rPr>
              <a:t>▸ </a:t>
            </a:r>
            <a:r>
              <a:rPr sz="1050" b="1">
                <a:solidFill>
                  <a:srgbClr val="1F7A33"/>
                </a:solidFill>
                <a:latin typeface="Poppins"/>
              </a:rPr>
              <a:t>Monorepo : </a:t>
            </a:r>
            <a:r>
              <a:rPr sz="1050">
                <a:solidFill>
                  <a:srgbClr val="173A2A"/>
                </a:solidFill>
                <a:latin typeface="Poppins"/>
              </a:rPr>
              <a:t>chacun clone, docker compose up, pytest scoring/tests avant merge.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E9E50"/>
                </a:solidFill>
                <a:latin typeface="Poppins"/>
              </a:rPr>
              <a:t>▸ </a:t>
            </a:r>
            <a:r>
              <a:rPr sz="1050" b="1">
                <a:solidFill>
                  <a:srgbClr val="1F7A33"/>
                </a:solidFill>
                <a:latin typeface="Poppins"/>
              </a:rPr>
              <a:t>Contrats : </a:t>
            </a:r>
            <a:r>
              <a:rPr sz="1050">
                <a:solidFill>
                  <a:srgbClr val="173A2A"/>
                </a:solidFill>
                <a:latin typeface="Poppins"/>
              </a:rPr>
              <a:t>DossierInput / ScoreResult et message_code figés — aucun rename sans ping.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E9E50"/>
                </a:solidFill>
                <a:latin typeface="Poppins"/>
              </a:rPr>
              <a:t>▸ </a:t>
            </a:r>
            <a:r>
              <a:rPr sz="1050" b="1">
                <a:solidFill>
                  <a:srgbClr val="1F7A33"/>
                </a:solidFill>
                <a:latin typeface="Poppins"/>
              </a:rPr>
              <a:t>Revue croisée : </a:t>
            </a:r>
            <a:r>
              <a:rPr sz="1050">
                <a:solidFill>
                  <a:srgbClr val="173A2A"/>
                </a:solidFill>
                <a:latin typeface="Poppins"/>
              </a:rPr>
              <a:t>le back ne masque pas un bug moteur, le front ne calcule aucune formule.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510528"/>
            <a:ext cx="11277295" cy="7620"/>
          </a:xfrm>
          <a:prstGeom prst="rect">
            <a:avLst/>
          </a:prstGeom>
          <a:solidFill>
            <a:srgbClr val="D6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65392"/>
            <a:ext cx="841248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850" b="0">
                <a:solidFill>
                  <a:srgbClr val="5F7A6B"/>
                </a:solidFill>
                <a:latin typeface="Poppins"/>
              </a:rPr>
              <a:t>DIGISCORE-WA · COPILOTE D'ÉLIGIBILITÉ ET DE PLAFOND DE CRÉDIT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565392"/>
            <a:ext cx="25603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19" b="0">
                <a:solidFill>
                  <a:srgbClr val="5F7A6B"/>
                </a:solidFill>
                <a:latin typeface="Poppins"/>
              </a:rPr>
              <a:t>Équipe Alpha · CIF DigiCoop-WA+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65392"/>
            <a:ext cx="7772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F7A6B"/>
                </a:solidFill>
                <a:latin typeface="Poppins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4450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2085"/>
            <a:ext cx="12191695" cy="22860"/>
          </a:xfrm>
          <a:prstGeom prst="rect">
            <a:avLst/>
          </a:prstGeom>
          <a:solidFill>
            <a:srgbClr val="E0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"/>
            <a:ext cx="137160" cy="292608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"/>
            <a:ext cx="877824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F2C010"/>
                </a:solidFill>
                <a:latin typeface="Poppins"/>
              </a:rPr>
              <a:t>6 ·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"/>
            <a:ext cx="9509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</a:rPr>
              <a:t>Du prototype au pilote, puis au suivi complet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78440" y="182880"/>
            <a:ext cx="153619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376" y="285292"/>
            <a:ext cx="526694" cy="526694"/>
          </a:xfrm>
          <a:prstGeom prst="rect">
            <a:avLst/>
          </a:prstGeom>
        </p:spPr>
      </p:pic>
      <p:pic>
        <p:nvPicPr>
          <p:cNvPr id="11" name="Picture 10" descr="fuc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510" y="285292"/>
            <a:ext cx="526694" cy="526694"/>
          </a:xfrm>
          <a:prstGeom prst="rect">
            <a:avLst/>
          </a:prstGeom>
        </p:spPr>
      </p:pic>
      <p:pic>
        <p:nvPicPr>
          <p:cNvPr id="12" name="Picture 11" descr="t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1644" y="285292"/>
            <a:ext cx="366052" cy="5266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1243584"/>
            <a:ext cx="1124712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0">
                <a:solidFill>
                  <a:srgbClr val="5F7A6B"/>
                </a:solidFill>
                <a:latin typeface="Poppins"/>
              </a:rPr>
              <a:t>Ce qui est fait, ce qui vient, et ce qu'on ne fera pas sans données réelles.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28800"/>
            <a:ext cx="36118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1F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3611880" cy="109728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029968"/>
            <a:ext cx="315468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1F7A33"/>
                </a:solidFill>
                <a:latin typeface="Poppins"/>
              </a:rPr>
              <a:t>MAINTENANT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315468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400" b="1">
                <a:solidFill>
                  <a:srgbClr val="1F7A33"/>
                </a:solidFill>
                <a:latin typeface="Poppins"/>
              </a:rPr>
              <a:t>Prototype 72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788920"/>
            <a:ext cx="315468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19" b="1">
                <a:solidFill>
                  <a:srgbClr val="1F7A33"/>
                </a:solidFill>
                <a:latin typeface="Poppins"/>
              </a:rPr>
              <a:t>▸ </a:t>
            </a:r>
            <a:r>
              <a:rPr sz="1019">
                <a:solidFill>
                  <a:srgbClr val="173A2A"/>
                </a:solidFill>
                <a:latin typeface="Poppins"/>
              </a:rPr>
              <a:t>M1–M5 fonctionnels, 12 profils démo, 3 rôles.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19" b="1">
                <a:solidFill>
                  <a:srgbClr val="1F7A33"/>
                </a:solidFill>
                <a:latin typeface="Poppins"/>
              </a:rPr>
              <a:t>▸ </a:t>
            </a:r>
            <a:r>
              <a:rPr sz="1019">
                <a:solidFill>
                  <a:srgbClr val="173A2A"/>
                </a:solidFill>
                <a:latin typeface="Poppins"/>
              </a:rPr>
              <a:t>Moteur règles + plafond + messages, tests golden.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19" b="1">
                <a:solidFill>
                  <a:srgbClr val="1F7A33"/>
                </a:solidFill>
                <a:latin typeface="Poppins"/>
              </a:rPr>
              <a:t>▸ </a:t>
            </a:r>
            <a:r>
              <a:rPr sz="1019">
                <a:solidFill>
                  <a:srgbClr val="173A2A"/>
                </a:solidFill>
                <a:latin typeface="Poppins"/>
              </a:rPr>
              <a:t>ML shadow : scorecard, anomalies, résilience.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828800"/>
            <a:ext cx="36118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828800"/>
            <a:ext cx="3611880" cy="109728"/>
          </a:xfrm>
          <a:prstGeom prst="rect">
            <a:avLst/>
          </a:prstGeom>
          <a:solidFill>
            <a:srgbClr val="2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029968"/>
            <a:ext cx="315468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2E9E50"/>
                </a:solidFill>
                <a:latin typeface="Poppins"/>
              </a:rPr>
              <a:t>PILOTE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31720"/>
            <a:ext cx="315468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400" b="1">
                <a:solidFill>
                  <a:srgbClr val="1F7A33"/>
                </a:solidFill>
                <a:latin typeface="Poppins"/>
              </a:rPr>
              <a:t>Avec la FUCEC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788920"/>
            <a:ext cx="315468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19" b="1">
                <a:solidFill>
                  <a:srgbClr val="2E9E50"/>
                </a:solidFill>
                <a:latin typeface="Poppins"/>
              </a:rPr>
              <a:t>▸ </a:t>
            </a:r>
            <a:r>
              <a:rPr sz="1019">
                <a:solidFill>
                  <a:srgbClr val="173A2A"/>
                </a:solidFill>
                <a:latin typeface="Poppins"/>
              </a:rPr>
              <a:t>Extraits réels dans les mêmes tables.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19" b="1">
                <a:solidFill>
                  <a:srgbClr val="2E9E50"/>
                </a:solidFill>
                <a:latin typeface="Poppins"/>
              </a:rPr>
              <a:t>▸ </a:t>
            </a:r>
            <a:r>
              <a:rPr sz="1019">
                <a:solidFill>
                  <a:srgbClr val="173A2A"/>
                </a:solidFill>
                <a:latin typeface="Poppins"/>
              </a:rPr>
              <a:t>Adapter réel + atelier DSI, sidecar ADD-only.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19" b="1">
                <a:solidFill>
                  <a:srgbClr val="2E9E50"/>
                </a:solidFill>
                <a:latin typeface="Poppins"/>
              </a:rPr>
              <a:t>▸ </a:t>
            </a:r>
            <a:r>
              <a:rPr sz="1019">
                <a:solidFill>
                  <a:srgbClr val="173A2A"/>
                </a:solidFill>
                <a:latin typeface="Poppins"/>
              </a:rPr>
              <a:t>Recalibrage des seuils sur historiques locaux.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828800"/>
            <a:ext cx="36118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C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11880" cy="109728"/>
          </a:xfrm>
          <a:prstGeom prst="rect">
            <a:avLst/>
          </a:prstGeom>
          <a:solidFill>
            <a:srgbClr val="C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029968"/>
            <a:ext cx="315468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C08A00"/>
                </a:solidFill>
                <a:latin typeface="Poppins"/>
              </a:rPr>
              <a:t>ENSUITE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331720"/>
            <a:ext cx="315468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400" b="1">
                <a:solidFill>
                  <a:srgbClr val="1F7A33"/>
                </a:solidFill>
                <a:latin typeface="Poppins"/>
              </a:rPr>
              <a:t>M6 / M7 + ML utile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788920"/>
            <a:ext cx="3154680" cy="1737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19" b="1">
                <a:solidFill>
                  <a:srgbClr val="C08A00"/>
                </a:solidFill>
                <a:latin typeface="Poppins"/>
              </a:rPr>
              <a:t>▸ </a:t>
            </a:r>
            <a:r>
              <a:rPr sz="1019">
                <a:solidFill>
                  <a:srgbClr val="173A2A"/>
                </a:solidFill>
                <a:latin typeface="Poppins"/>
              </a:rPr>
              <a:t>Suivi PAR &amp; recouvrement, alertes chef/CIC.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19" b="1">
                <a:solidFill>
                  <a:srgbClr val="C08A00"/>
                </a:solidFill>
                <a:latin typeface="Poppins"/>
              </a:rPr>
              <a:t>▸ </a:t>
            </a:r>
            <a:r>
              <a:rPr sz="1019">
                <a:solidFill>
                  <a:srgbClr val="173A2A"/>
                </a:solidFill>
                <a:latin typeface="Poppins"/>
              </a:rPr>
              <a:t>Label PAR30 post-décaissement → modèle calibré.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19" b="1">
                <a:solidFill>
                  <a:srgbClr val="C08A00"/>
                </a:solidFill>
                <a:latin typeface="Poppins"/>
              </a:rPr>
              <a:t>▸ </a:t>
            </a:r>
            <a:r>
              <a:rPr sz="1019">
                <a:solidFill>
                  <a:srgbClr val="173A2A"/>
                </a:solidFill>
                <a:latin typeface="Poppins"/>
              </a:rPr>
              <a:t>Mobile money / wallets, multi-SFD, i18n.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92040"/>
            <a:ext cx="11274552" cy="1234440"/>
          </a:xfrm>
          <a:prstGeom prst="roundRect">
            <a:avLst>
              <a:gd name="adj" fmla="val 8000"/>
            </a:avLst>
          </a:prstGeom>
          <a:solidFill>
            <a:srgbClr val="FCF3DC"/>
          </a:solidFill>
          <a:ln w="7620">
            <a:solidFill>
              <a:srgbClr val="C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047488"/>
            <a:ext cx="106984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250" b="1">
                <a:solidFill>
                  <a:srgbClr val="C08A00"/>
                </a:solidFill>
                <a:latin typeface="Poppins"/>
              </a:rPr>
              <a:t>Ce qu'on ne vend pas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394960"/>
            <a:ext cx="10698480" cy="5029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0">
                <a:solidFill>
                  <a:srgbClr val="173A2A"/>
                </a:solidFill>
                <a:latin typeface="Poppins"/>
              </a:rPr>
              <a:t>De l'IA sans données réelles · un score seul, sans plafond ni message · le remplacement du comité de crédit.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510528"/>
            <a:ext cx="11277295" cy="7620"/>
          </a:xfrm>
          <a:prstGeom prst="rect">
            <a:avLst/>
          </a:prstGeom>
          <a:solidFill>
            <a:srgbClr val="D6E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841248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850" b="0">
                <a:solidFill>
                  <a:srgbClr val="5F7A6B"/>
                </a:solidFill>
                <a:latin typeface="Poppins"/>
              </a:rPr>
              <a:t>DIGISCORE-WA · COPILOTE D'ÉLIGIBILITÉ ET DE PLAFOND DE CRÉDIT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6565392"/>
            <a:ext cx="25603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819" b="0">
                <a:solidFill>
                  <a:srgbClr val="5F7A6B"/>
                </a:solidFill>
                <a:latin typeface="Poppins"/>
              </a:rPr>
              <a:t>Équipe Alpha · CIF DigiCoop-WA+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65392"/>
            <a:ext cx="77724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F7A6B"/>
                </a:solidFill>
                <a:latin typeface="Poppins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C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64008" cy="6858000"/>
          </a:xfrm>
          <a:prstGeom prst="rect">
            <a:avLst/>
          </a:prstGeom>
          <a:solidFill>
            <a:srgbClr val="166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64008" cy="6858000"/>
          </a:xfrm>
          <a:prstGeom prst="rect">
            <a:avLst/>
          </a:prstGeom>
          <a:solidFill>
            <a:srgbClr val="E0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F2C010"/>
                </a:solidFill>
                <a:latin typeface="Poppins"/>
              </a:rPr>
              <a:t>MERCI ·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8992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</a:rPr>
              <a:t>DigiScore-WA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700" b="1">
                <a:solidFill>
                  <a:srgbClr val="E7F4EA"/>
                </a:solidFill>
                <a:latin typeface="Poppins"/>
              </a:rPr>
              <a:t>Le copilote d'éligibilité et de plafond des SFD CIF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515600" cy="7315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F2C010"/>
                </a:solidFill>
                <a:latin typeface="Poppins"/>
              </a:rPr>
              <a:t>« Le ML éclaire, l'humain décide. »</a:t>
            </a:r>
          </a:p>
          <a:p>
            <a:pPr algn="l"/>
            <a:r>
              <a:rPr sz="1300" b="1">
                <a:solidFill>
                  <a:srgbClr val="F2C010"/>
                </a:solidFill>
                <a:latin typeface="Poppins"/>
              </a:rPr>
              <a:t>Objectiver sans remplacer : score explicable, plafond traçable, décision humaine auditée.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0F4022"/>
          </a:solidFill>
          <a:ln w="762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447288"/>
            <a:ext cx="30175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1">
                <a:solidFill>
                  <a:srgbClr val="2E9E50"/>
                </a:solidFill>
                <a:latin typeface="Poppins"/>
              </a:rPr>
              <a:t>Score /100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739896"/>
            <a:ext cx="301752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E7F4EA"/>
                </a:solidFill>
                <a:latin typeface="Poppins"/>
              </a:rPr>
              <a:t>6 critères, zones 40/70, KO priorisés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33756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0F4022"/>
          </a:solidFill>
          <a:ln w="7620">
            <a:solidFill>
              <a:srgbClr val="2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447288"/>
            <a:ext cx="30175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1">
                <a:solidFill>
                  <a:srgbClr val="2E9E50"/>
                </a:solidFill>
                <a:latin typeface="Poppins"/>
              </a:rPr>
              <a:t>Plafond type télécom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739896"/>
            <a:ext cx="301752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E7F4EA"/>
                </a:solidFill>
                <a:latin typeface="Poppins"/>
              </a:rPr>
              <a:t>montant + message, pas un oui/non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33756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0F4022"/>
          </a:solidFill>
          <a:ln w="7620">
            <a:solidFill>
              <a:srgbClr val="F2C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447288"/>
            <a:ext cx="30175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1">
                <a:solidFill>
                  <a:srgbClr val="F2C010"/>
                </a:solidFill>
                <a:latin typeface="Poppins"/>
              </a:rPr>
              <a:t>3 niveaux humains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3739896"/>
            <a:ext cx="301752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E7F4EA"/>
                </a:solidFill>
                <a:latin typeface="Poppins"/>
              </a:rPr>
              <a:t>Agent → Chef → CIC, override tracé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70248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0F4022"/>
          </a:solidFill>
          <a:ln w="7620">
            <a:solidFill>
              <a:srgbClr val="F2C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379976"/>
            <a:ext cx="30175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1">
                <a:solidFill>
                  <a:srgbClr val="F2C010"/>
                </a:solidFill>
                <a:latin typeface="Poppins"/>
              </a:rPr>
              <a:t>Sidecar ADD-only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672584"/>
            <a:ext cx="301752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E7F4EA"/>
                </a:solidFill>
                <a:latin typeface="Poppins"/>
              </a:rPr>
              <a:t>déployable sans toucher au 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270248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0F4022"/>
          </a:solidFill>
          <a:ln w="7620">
            <a:solidFill>
              <a:srgbClr val="C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4379976"/>
            <a:ext cx="30175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1">
                <a:solidFill>
                  <a:srgbClr val="C08A00"/>
                </a:solidFill>
                <a:latin typeface="Poppins"/>
              </a:rPr>
              <a:t>ML shadow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672584"/>
            <a:ext cx="301752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E7F4EA"/>
                </a:solidFill>
                <a:latin typeface="Poppins"/>
              </a:rPr>
              <a:t>vise juste, ne décide jamais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70248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0F4022"/>
          </a:solidFill>
          <a:ln w="7620">
            <a:solidFill>
              <a:srgbClr val="C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4379976"/>
            <a:ext cx="30175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50" b="1">
                <a:solidFill>
                  <a:srgbClr val="C08A00"/>
                </a:solidFill>
                <a:latin typeface="Poppins"/>
              </a:rPr>
              <a:t>Données réelles ensuite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4672584"/>
            <a:ext cx="301752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E7F4EA"/>
                </a:solidFill>
                <a:latin typeface="Poppins"/>
              </a:rPr>
              <a:t>pilote FUCEC, labels PAR30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4068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5513832"/>
            <a:ext cx="548640" cy="54864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103120" y="544068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uc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5513832"/>
            <a:ext cx="548640" cy="54864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3474720" y="544068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6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427" y="5513832"/>
            <a:ext cx="381304" cy="5486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20640" y="5504688"/>
            <a:ext cx="6309360" cy="5943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Poppins"/>
              </a:rPr>
              <a:t>Équipe Alpha · Hackathon CIF DigiCoop-WA+ · Lomé, septembre 2026</a:t>
            </a:r>
          </a:p>
          <a:p>
            <a:pPr algn="r"/>
            <a:r>
              <a:rPr sz="1050" b="1">
                <a:solidFill>
                  <a:srgbClr val="FFFFFF"/>
                </a:solidFill>
                <a:latin typeface="Poppins"/>
              </a:rPr>
              <a:t>Contacts : prénom.nom@…  ·  github.com/… (repo hackathon)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DigiScore-WA — Pitch Hackathon CIF DigiCoop-WA+</dc:title>
  <dc:subject/>
  <dc:creator>Équipe Alpha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